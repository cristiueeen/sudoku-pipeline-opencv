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1753EE0-C273-49C6-B594-7701C75459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9E338B-84AB-4213-A902-123C99D606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84CB81A-A44B-43C5-85E6-D8BA44275C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C701130-4606-459A-A0D3-E9B13F4DA44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6C6D6D3-1F06-4A82-954C-469A02F741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53EE113-5C5C-4E77-85E9-568831F57D7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17C1571-9CC0-4E10-A2DA-467667BA6D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3F28DE8-1DA2-4623-AF26-14B048F165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67FFA93-B739-48EB-B450-681C8EBD93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8D552F9-746D-48E9-AF1B-667604E9F4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70CD6E6-FD84-4289-A007-5D7A8F90E6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218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218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0" y="2468880"/>
            <a:ext cx="12191400" cy="54360"/>
          </a:xfrm>
          <a:prstGeom prst="rect">
            <a:avLst/>
          </a:prstGeom>
          <a:solidFill>
            <a:srgbClr val="3DC9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731520" y="1554480"/>
            <a:ext cx="106981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5200" b="1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Sudoku Solver</a:t>
            </a:r>
            <a:endParaRPr lang="en-US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731520" y="2606040"/>
            <a:ext cx="106981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2000" b="0" u="none" strike="noStrike">
                <a:solidFill>
                  <a:srgbClr val="5AA9F0"/>
                </a:solidFill>
                <a:effectLst/>
                <a:uFillTx/>
                <a:latin typeface="DejaVu Sans"/>
              </a:rPr>
              <a:t>Computer-vision pipeline in C++ / OpenCV — Natea Cristian-Ioan, 30434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731520" y="5394960"/>
            <a:ext cx="1069812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400" b="0" u="none" strike="noStrike">
                <a:solidFill>
                  <a:srgbClr val="9AA7B4"/>
                </a:solidFill>
                <a:effectLst/>
                <a:uFillTx/>
                <a:latin typeface="DejaVu Sans"/>
              </a:rPr>
              <a:t>Reads a photo of a puzzle  →  finds &amp; rectifies the grid  →  recognizes the digits  →  solves  →  draws the answer back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ectangle 7"/>
          <p:cNvSpPr/>
          <p:nvPr/>
        </p:nvSpPr>
        <p:spPr>
          <a:xfrm>
            <a:off x="8458200" y="3337560"/>
            <a:ext cx="3108600" cy="1828440"/>
          </a:xfrm>
          <a:prstGeom prst="rect">
            <a:avLst/>
          </a:prstGeom>
          <a:solidFill>
            <a:srgbClr val="1B2431"/>
          </a:solidFill>
          <a:ln w="12700">
            <a:solidFill>
              <a:srgbClr val="5AA9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8" name="Picture 8" descr="00_input.png"/>
          <p:cNvPicPr/>
          <p:nvPr/>
        </p:nvPicPr>
        <p:blipFill>
          <a:blip r:embed="rId1"/>
          <a:stretch/>
        </p:blipFill>
        <p:spPr>
          <a:xfrm>
            <a:off x="9090360" y="3383280"/>
            <a:ext cx="1843920" cy="173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TextBox 9"/>
          <p:cNvSpPr/>
          <p:nvPr/>
        </p:nvSpPr>
        <p:spPr>
          <a:xfrm>
            <a:off x="8503920" y="517536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9AA7B4"/>
                </a:solidFill>
                <a:effectLst/>
                <a:uFillTx/>
                <a:latin typeface="DejaVu Sans"/>
              </a:rPr>
              <a:t>input (perspective-2)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10"/>
          <p:cNvSpPr/>
          <p:nvPr/>
        </p:nvSpPr>
        <p:spPr>
          <a:xfrm>
            <a:off x="5074920" y="3337560"/>
            <a:ext cx="3108600" cy="1828440"/>
          </a:xfrm>
          <a:prstGeom prst="rect">
            <a:avLst/>
          </a:prstGeom>
          <a:solidFill>
            <a:srgbClr val="1B2431"/>
          </a:solidFill>
          <a:ln w="12700">
            <a:solidFill>
              <a:srgbClr val="5AA9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1" name="Picture 11" descr="04_final.png"/>
          <p:cNvPicPr/>
          <p:nvPr/>
        </p:nvPicPr>
        <p:blipFill>
          <a:blip r:embed="rId2"/>
          <a:stretch/>
        </p:blipFill>
        <p:spPr>
          <a:xfrm>
            <a:off x="5707080" y="3383280"/>
            <a:ext cx="1843920" cy="173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Box 12"/>
          <p:cNvSpPr/>
          <p:nvPr/>
        </p:nvSpPr>
        <p:spPr>
          <a:xfrm>
            <a:off x="5120640" y="517536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9AA7B4"/>
                </a:solidFill>
                <a:effectLst/>
                <a:uFillTx/>
                <a:latin typeface="DejaVu Sans"/>
              </a:rPr>
              <a:t>solved output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-75600" y="360"/>
            <a:ext cx="12191400" cy="6857640"/>
          </a:xfrm>
          <a:prstGeom prst="rect">
            <a:avLst/>
          </a:prstGeom>
          <a:solidFill>
            <a:srgbClr val="1218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Rectangle 2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3DC9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548640" y="3200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OVERVIEW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548640" y="60336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3000" b="1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What the project does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5"/>
          <p:cNvSpPr/>
          <p:nvPr/>
        </p:nvSpPr>
        <p:spPr>
          <a:xfrm>
            <a:off x="548640" y="1645920"/>
            <a:ext cx="5851800" cy="226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5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Input: a single photo of a Sudoku grid (possibly skewed / perspective).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5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Output: the same image with the missing digits filled in, in green.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5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Constraint: not allowed to use built-in recognition / contour / ML functions — every step is hand-written.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5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50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Robustness comes from a real, harvested digit library + nearest-neighbour matching.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6"/>
          <p:cNvSpPr/>
          <p:nvPr/>
        </p:nvSpPr>
        <p:spPr>
          <a:xfrm>
            <a:off x="6720840" y="1691640"/>
            <a:ext cx="2377080" cy="2468520"/>
          </a:xfrm>
          <a:prstGeom prst="rect">
            <a:avLst/>
          </a:prstGeom>
          <a:solidFill>
            <a:srgbClr val="1B2431"/>
          </a:solidFill>
          <a:ln w="12700">
            <a:solidFill>
              <a:srgbClr val="5AA9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9" name="Picture 7" descr="00_input.png"/>
          <p:cNvPicPr/>
          <p:nvPr/>
        </p:nvPicPr>
        <p:blipFill>
          <a:blip r:embed="rId1"/>
          <a:stretch/>
        </p:blipFill>
        <p:spPr>
          <a:xfrm>
            <a:off x="6766560" y="1849320"/>
            <a:ext cx="2285640" cy="215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TextBox 8"/>
          <p:cNvSpPr/>
          <p:nvPr/>
        </p:nvSpPr>
        <p:spPr>
          <a:xfrm>
            <a:off x="6766560" y="41695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9AA7B4"/>
                </a:solidFill>
                <a:effectLst/>
                <a:uFillTx/>
                <a:latin typeface="DejaVu Sans"/>
              </a:rPr>
              <a:t>input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9"/>
          <p:cNvSpPr/>
          <p:nvPr/>
        </p:nvSpPr>
        <p:spPr>
          <a:xfrm>
            <a:off x="9189720" y="1691640"/>
            <a:ext cx="2377080" cy="2468520"/>
          </a:xfrm>
          <a:prstGeom prst="rect">
            <a:avLst/>
          </a:prstGeom>
          <a:solidFill>
            <a:srgbClr val="1B2431"/>
          </a:solidFill>
          <a:ln w="12700">
            <a:solidFill>
              <a:srgbClr val="5AA9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2" name="Picture 10" descr="04_final.png"/>
          <p:cNvPicPr/>
          <p:nvPr/>
        </p:nvPicPr>
        <p:blipFill>
          <a:blip r:embed="rId2"/>
          <a:stretch/>
        </p:blipFill>
        <p:spPr>
          <a:xfrm>
            <a:off x="9235440" y="1849320"/>
            <a:ext cx="2285640" cy="215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TextBox 11"/>
          <p:cNvSpPr/>
          <p:nvPr/>
        </p:nvSpPr>
        <p:spPr>
          <a:xfrm>
            <a:off x="9235440" y="41695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9AA7B4"/>
                </a:solidFill>
                <a:effectLst/>
                <a:uFillTx/>
                <a:latin typeface="DejaVu Sans"/>
              </a:rPr>
              <a:t>result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218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Rectangle 2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3DC9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3"/>
          <p:cNvSpPr/>
          <p:nvPr/>
        </p:nvSpPr>
        <p:spPr>
          <a:xfrm>
            <a:off x="548640" y="3200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THE PIPELINE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"/>
          <p:cNvSpPr/>
          <p:nvPr/>
        </p:nvSpPr>
        <p:spPr>
          <a:xfrm>
            <a:off x="548640" y="60336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3000" b="1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Six stages, one straight line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5"/>
          <p:cNvSpPr/>
          <p:nvPr/>
        </p:nvSpPr>
        <p:spPr>
          <a:xfrm>
            <a:off x="548640" y="1600200"/>
            <a:ext cx="11063880" cy="676440"/>
          </a:xfrm>
          <a:prstGeom prst="rect">
            <a:avLst/>
          </a:prstGeom>
          <a:solidFill>
            <a:srgbClr val="1B24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Rectangle 6"/>
          <p:cNvSpPr/>
          <p:nvPr/>
        </p:nvSpPr>
        <p:spPr>
          <a:xfrm>
            <a:off x="548640" y="1600200"/>
            <a:ext cx="109440" cy="676440"/>
          </a:xfrm>
          <a:prstGeom prst="rect">
            <a:avLst/>
          </a:prstGeom>
          <a:solidFill>
            <a:srgbClr val="3DC9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7"/>
          <p:cNvSpPr/>
          <p:nvPr/>
        </p:nvSpPr>
        <p:spPr>
          <a:xfrm>
            <a:off x="868680" y="1673280"/>
            <a:ext cx="2925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7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1  Pre-process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8"/>
          <p:cNvSpPr/>
          <p:nvPr/>
        </p:nvSpPr>
        <p:spPr>
          <a:xfrm>
            <a:off x="3931920" y="1673280"/>
            <a:ext cx="7497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4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Gaussian blur → adaptive threshold → morphological close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ectangle 9"/>
          <p:cNvSpPr/>
          <p:nvPr/>
        </p:nvSpPr>
        <p:spPr>
          <a:xfrm>
            <a:off x="548640" y="2386440"/>
            <a:ext cx="11063880" cy="676440"/>
          </a:xfrm>
          <a:prstGeom prst="rect">
            <a:avLst/>
          </a:prstGeom>
          <a:solidFill>
            <a:srgbClr val="1B24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Rectangle 10"/>
          <p:cNvSpPr/>
          <p:nvPr/>
        </p:nvSpPr>
        <p:spPr>
          <a:xfrm>
            <a:off x="548640" y="2386440"/>
            <a:ext cx="109440" cy="676440"/>
          </a:xfrm>
          <a:prstGeom prst="rect">
            <a:avLst/>
          </a:prstGeom>
          <a:solidFill>
            <a:srgbClr val="5AA9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1"/>
          <p:cNvSpPr/>
          <p:nvPr/>
        </p:nvSpPr>
        <p:spPr>
          <a:xfrm>
            <a:off x="868680" y="2459880"/>
            <a:ext cx="2925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700" b="1" u="none" strike="noStrike">
                <a:solidFill>
                  <a:srgbClr val="5AA9F0"/>
                </a:solidFill>
                <a:effectLst/>
                <a:uFillTx/>
                <a:latin typeface="DejaVu Sans"/>
              </a:rPr>
              <a:t>2  Locate grid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2"/>
          <p:cNvSpPr/>
          <p:nvPr/>
        </p:nvSpPr>
        <p:spPr>
          <a:xfrm>
            <a:off x="3931920" y="2459880"/>
            <a:ext cx="7497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4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Largest connected blob → its 4 extreme corners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ectangle 13"/>
          <p:cNvSpPr/>
          <p:nvPr/>
        </p:nvSpPr>
        <p:spPr>
          <a:xfrm>
            <a:off x="548640" y="3173040"/>
            <a:ext cx="11063880" cy="676440"/>
          </a:xfrm>
          <a:prstGeom prst="rect">
            <a:avLst/>
          </a:prstGeom>
          <a:solidFill>
            <a:srgbClr val="1B24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Rectangle 14"/>
          <p:cNvSpPr/>
          <p:nvPr/>
        </p:nvSpPr>
        <p:spPr>
          <a:xfrm>
            <a:off x="548640" y="3173040"/>
            <a:ext cx="109440" cy="676440"/>
          </a:xfrm>
          <a:prstGeom prst="rect">
            <a:avLst/>
          </a:prstGeom>
          <a:solidFill>
            <a:srgbClr val="3DC9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15"/>
          <p:cNvSpPr/>
          <p:nvPr/>
        </p:nvSpPr>
        <p:spPr>
          <a:xfrm>
            <a:off x="868680" y="3246120"/>
            <a:ext cx="2925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7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3  Rectify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6"/>
          <p:cNvSpPr/>
          <p:nvPr/>
        </p:nvSpPr>
        <p:spPr>
          <a:xfrm>
            <a:off x="3931920" y="3246120"/>
            <a:ext cx="7497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4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Perspective transform → 450×450 fronto-parallel grid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ectangle 17"/>
          <p:cNvSpPr/>
          <p:nvPr/>
        </p:nvSpPr>
        <p:spPr>
          <a:xfrm>
            <a:off x="548640" y="3959280"/>
            <a:ext cx="11063880" cy="676440"/>
          </a:xfrm>
          <a:prstGeom prst="rect">
            <a:avLst/>
          </a:prstGeom>
          <a:solidFill>
            <a:srgbClr val="1B24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Rectangle 18"/>
          <p:cNvSpPr/>
          <p:nvPr/>
        </p:nvSpPr>
        <p:spPr>
          <a:xfrm>
            <a:off x="548640" y="3959280"/>
            <a:ext cx="109440" cy="676440"/>
          </a:xfrm>
          <a:prstGeom prst="rect">
            <a:avLst/>
          </a:prstGeom>
          <a:solidFill>
            <a:srgbClr val="5AA9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19"/>
          <p:cNvSpPr/>
          <p:nvPr/>
        </p:nvSpPr>
        <p:spPr>
          <a:xfrm>
            <a:off x="868680" y="4032360"/>
            <a:ext cx="2925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700" b="1" u="none" strike="noStrike">
                <a:solidFill>
                  <a:srgbClr val="5AA9F0"/>
                </a:solidFill>
                <a:effectLst/>
                <a:uFillTx/>
                <a:latin typeface="DejaVu Sans"/>
              </a:rPr>
              <a:t>4  Extract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20"/>
          <p:cNvSpPr/>
          <p:nvPr/>
        </p:nvSpPr>
        <p:spPr>
          <a:xfrm>
            <a:off x="3931920" y="4032360"/>
            <a:ext cx="7497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4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Flood-fill blobs → filter by size/aspect → assign to 9×9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21"/>
          <p:cNvSpPr/>
          <p:nvPr/>
        </p:nvSpPr>
        <p:spPr>
          <a:xfrm>
            <a:off x="548640" y="4745880"/>
            <a:ext cx="11063880" cy="676440"/>
          </a:xfrm>
          <a:prstGeom prst="rect">
            <a:avLst/>
          </a:prstGeom>
          <a:solidFill>
            <a:srgbClr val="1B24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Rectangle 22"/>
          <p:cNvSpPr/>
          <p:nvPr/>
        </p:nvSpPr>
        <p:spPr>
          <a:xfrm>
            <a:off x="548640" y="4745880"/>
            <a:ext cx="109440" cy="676440"/>
          </a:xfrm>
          <a:prstGeom prst="rect">
            <a:avLst/>
          </a:prstGeom>
          <a:solidFill>
            <a:srgbClr val="3DC9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23"/>
          <p:cNvSpPr/>
          <p:nvPr/>
        </p:nvSpPr>
        <p:spPr>
          <a:xfrm>
            <a:off x="868680" y="4917960"/>
            <a:ext cx="292572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7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5  Recognize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24"/>
          <p:cNvSpPr/>
          <p:nvPr/>
        </p:nvSpPr>
        <p:spPr>
          <a:xfrm>
            <a:off x="3931920" y="4937040"/>
            <a:ext cx="74977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4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Normalize → zoning + projections → weighted k-NN vote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25"/>
          <p:cNvSpPr/>
          <p:nvPr/>
        </p:nvSpPr>
        <p:spPr>
          <a:xfrm>
            <a:off x="548640" y="5532120"/>
            <a:ext cx="11063880" cy="676440"/>
          </a:xfrm>
          <a:prstGeom prst="rect">
            <a:avLst/>
          </a:prstGeom>
          <a:solidFill>
            <a:srgbClr val="1B24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Rectangle 26"/>
          <p:cNvSpPr/>
          <p:nvPr/>
        </p:nvSpPr>
        <p:spPr>
          <a:xfrm>
            <a:off x="548640" y="5532120"/>
            <a:ext cx="109440" cy="676440"/>
          </a:xfrm>
          <a:prstGeom prst="rect">
            <a:avLst/>
          </a:prstGeom>
          <a:solidFill>
            <a:srgbClr val="5AA9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27"/>
          <p:cNvSpPr/>
          <p:nvPr/>
        </p:nvSpPr>
        <p:spPr>
          <a:xfrm>
            <a:off x="868680" y="5605200"/>
            <a:ext cx="2925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700" b="1" u="none" strike="noStrike">
                <a:solidFill>
                  <a:srgbClr val="5AA9F0"/>
                </a:solidFill>
                <a:effectLst/>
                <a:uFillTx/>
                <a:latin typeface="DejaVu Sans"/>
              </a:rPr>
              <a:t>6  Solve + draw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28"/>
          <p:cNvSpPr/>
          <p:nvPr/>
        </p:nvSpPr>
        <p:spPr>
          <a:xfrm>
            <a:off x="3931920" y="5605200"/>
            <a:ext cx="7497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4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Backtracking solver → render answer → inverse-warp back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218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Rectangle 2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3DC9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3"/>
          <p:cNvSpPr/>
          <p:nvPr/>
        </p:nvSpPr>
        <p:spPr>
          <a:xfrm>
            <a:off x="548640" y="3200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STAGE 1 — PRE-PROCESSING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4"/>
          <p:cNvSpPr/>
          <p:nvPr/>
        </p:nvSpPr>
        <p:spPr>
          <a:xfrm>
            <a:off x="548640" y="60336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3000" b="1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Clean the image, isolate the ink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Rectangle 5"/>
          <p:cNvSpPr/>
          <p:nvPr/>
        </p:nvSpPr>
        <p:spPr>
          <a:xfrm>
            <a:off x="548640" y="1691640"/>
            <a:ext cx="5760360" cy="1737000"/>
          </a:xfrm>
          <a:prstGeom prst="rect">
            <a:avLst/>
          </a:prstGeom>
          <a:solidFill>
            <a:srgbClr val="0C1016"/>
          </a:solidFill>
          <a:ln w="12700">
            <a:solidFill>
              <a:srgbClr val="1B243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6"/>
          <p:cNvSpPr/>
          <p:nvPr/>
        </p:nvSpPr>
        <p:spPr>
          <a:xfrm>
            <a:off x="713160" y="1801440"/>
            <a:ext cx="5431320" cy="151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blurred     = gaussianBlur(gray, 5);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thresholded = adaptiveThreshold(blurred, 21, 15);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morphed     = morphClose(thresholded, 5);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7"/>
          <p:cNvSpPr/>
          <p:nvPr/>
        </p:nvSpPr>
        <p:spPr>
          <a:xfrm>
            <a:off x="548640" y="3657600"/>
            <a:ext cx="576036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Gaussian blur: separable convolution — kills sensor noise so thresholding is stable.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Adaptive threshold (local mean via an integral image): copes with uneven lighting; gives white ink on black.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Morphological close: seals tiny gaps in the grid lines before we trace it.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Rectangle 8"/>
          <p:cNvSpPr/>
          <p:nvPr/>
        </p:nvSpPr>
        <p:spPr>
          <a:xfrm>
            <a:off x="6812280" y="1691640"/>
            <a:ext cx="2422800" cy="2331360"/>
          </a:xfrm>
          <a:prstGeom prst="rect">
            <a:avLst/>
          </a:prstGeom>
          <a:solidFill>
            <a:srgbClr val="1B2431"/>
          </a:solidFill>
          <a:ln w="12700">
            <a:solidFill>
              <a:srgbClr val="5AA9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0" name="Picture 9" descr="01_blur.png"/>
          <p:cNvPicPr/>
          <p:nvPr/>
        </p:nvPicPr>
        <p:blipFill>
          <a:blip r:embed="rId1"/>
          <a:stretch/>
        </p:blipFill>
        <p:spPr>
          <a:xfrm>
            <a:off x="6858000" y="1759320"/>
            <a:ext cx="2331360" cy="21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TextBox 10"/>
          <p:cNvSpPr/>
          <p:nvPr/>
        </p:nvSpPr>
        <p:spPr>
          <a:xfrm>
            <a:off x="6858000" y="403236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9AA7B4"/>
                </a:solidFill>
                <a:effectLst/>
                <a:uFillTx/>
                <a:latin typeface="DejaVu Sans"/>
              </a:rPr>
              <a:t>after blur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Rectangle 11"/>
          <p:cNvSpPr/>
          <p:nvPr/>
        </p:nvSpPr>
        <p:spPr>
          <a:xfrm>
            <a:off x="9281160" y="1691640"/>
            <a:ext cx="2422800" cy="2331360"/>
          </a:xfrm>
          <a:prstGeom prst="rect">
            <a:avLst/>
          </a:prstGeom>
          <a:solidFill>
            <a:srgbClr val="1B2431"/>
          </a:solidFill>
          <a:ln w="12700">
            <a:solidFill>
              <a:srgbClr val="5AA9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3" name="Picture 12" descr="02_threshold.png"/>
          <p:cNvPicPr/>
          <p:nvPr/>
        </p:nvPicPr>
        <p:blipFill>
          <a:blip r:embed="rId2"/>
          <a:stretch/>
        </p:blipFill>
        <p:spPr>
          <a:xfrm>
            <a:off x="9326880" y="1759320"/>
            <a:ext cx="2331360" cy="21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extBox 13"/>
          <p:cNvSpPr/>
          <p:nvPr/>
        </p:nvSpPr>
        <p:spPr>
          <a:xfrm>
            <a:off x="9326880" y="403236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9AA7B4"/>
                </a:solidFill>
                <a:effectLst/>
                <a:uFillTx/>
                <a:latin typeface="DejaVu Sans"/>
              </a:rPr>
              <a:t>after threshold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14"/>
          <p:cNvSpPr/>
          <p:nvPr/>
        </p:nvSpPr>
        <p:spPr>
          <a:xfrm>
            <a:off x="6858000" y="4480560"/>
            <a:ext cx="484596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Why local (adaptive) thresholding?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50" b="0" u="none" strike="noStrike">
                <a:solidFill>
                  <a:srgbClr val="9AA7B4"/>
                </a:solidFill>
                <a:effectLst/>
                <a:uFillTx/>
                <a:latin typeface="DejaVu Sans"/>
              </a:rPr>
              <a:t>A single global cut-off fails when one corner of the photo is darker. Comparing each pixel to its neighborhood mean keeps the strokes everywhere.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218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ectangle 2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3DC9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Box 3"/>
          <p:cNvSpPr/>
          <p:nvPr/>
        </p:nvSpPr>
        <p:spPr>
          <a:xfrm>
            <a:off x="548640" y="3200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STAGE 2-3 — LOCATE &amp; RECTIFY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4"/>
          <p:cNvSpPr/>
          <p:nvPr/>
        </p:nvSpPr>
        <p:spPr>
          <a:xfrm>
            <a:off x="548640" y="60336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3000" b="1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Find the grid, flatten the perspective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Rectangle 5"/>
          <p:cNvSpPr/>
          <p:nvPr/>
        </p:nvSpPr>
        <p:spPr>
          <a:xfrm>
            <a:off x="548640" y="1691640"/>
            <a:ext cx="5943240" cy="2285640"/>
          </a:xfrm>
          <a:prstGeom prst="rect">
            <a:avLst/>
          </a:prstGeom>
          <a:solidFill>
            <a:srgbClr val="0C1016"/>
          </a:solidFill>
          <a:ln w="12700">
            <a:solidFill>
              <a:srgbClr val="1B243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Box 6"/>
          <p:cNvSpPr/>
          <p:nvPr/>
        </p:nvSpPr>
        <p:spPr>
          <a:xfrm>
            <a:off x="713160" y="1801440"/>
            <a:ext cx="5614200" cy="20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blob    = findLargestBlob(morphed);   // BFS flood fill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corners = getGridCorners(blob);       // extreme x+y / x-y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M = getPerspectiveTransform(src, dst);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warpPerspective(thresholded, warped,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              M, {450,450}, INTER_NEAREST);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7"/>
          <p:cNvSpPr/>
          <p:nvPr/>
        </p:nvSpPr>
        <p:spPr>
          <a:xfrm>
            <a:off x="548640" y="4206240"/>
            <a:ext cx="59432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The grid frame is the biggest white connected component in the image.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Its 4 corners = pixels with min/max of (x+y) and (x−y).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A homography maps those corners to a clean 450×450 square; the inverse is kept to warp the answer back later.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ectangle 8"/>
          <p:cNvSpPr/>
          <p:nvPr/>
        </p:nvSpPr>
        <p:spPr>
          <a:xfrm>
            <a:off x="7818120" y="1737360"/>
            <a:ext cx="3474360" cy="3474360"/>
          </a:xfrm>
          <a:prstGeom prst="rect">
            <a:avLst/>
          </a:prstGeom>
          <a:solidFill>
            <a:srgbClr val="1B2431"/>
          </a:solidFill>
          <a:ln w="12700">
            <a:solidFill>
              <a:srgbClr val="5AA9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4" name="Picture 9" descr="03_warped.png"/>
          <p:cNvPicPr/>
          <p:nvPr/>
        </p:nvPicPr>
        <p:blipFill>
          <a:blip r:embed="rId1"/>
          <a:stretch/>
        </p:blipFill>
        <p:spPr>
          <a:xfrm>
            <a:off x="7863840" y="1783080"/>
            <a:ext cx="3382920" cy="3382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TextBox 10"/>
          <p:cNvSpPr/>
          <p:nvPr/>
        </p:nvSpPr>
        <p:spPr>
          <a:xfrm>
            <a:off x="7863840" y="522108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9AA7B4"/>
                </a:solidFill>
                <a:effectLst/>
                <a:uFillTx/>
                <a:latin typeface="DejaVu Sans"/>
              </a:rPr>
              <a:t>rectified 450×450 grid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218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Rectangle 2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3DC9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3"/>
          <p:cNvSpPr/>
          <p:nvPr/>
        </p:nvSpPr>
        <p:spPr>
          <a:xfrm>
            <a:off x="548640" y="3200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STAGE 4 — EXTRACT DIGIT CELLS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4"/>
          <p:cNvSpPr/>
          <p:nvPr/>
        </p:nvSpPr>
        <p:spPr>
          <a:xfrm>
            <a:off x="548640" y="60336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3000" b="1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Separate digits from grid lines &amp; noise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ectangle 5"/>
          <p:cNvSpPr/>
          <p:nvPr/>
        </p:nvSpPr>
        <p:spPr>
          <a:xfrm>
            <a:off x="548640" y="1737360"/>
            <a:ext cx="7497720" cy="2468520"/>
          </a:xfrm>
          <a:prstGeom prst="rect">
            <a:avLst/>
          </a:prstGeom>
          <a:solidFill>
            <a:srgbClr val="0C1016"/>
          </a:solidFill>
          <a:ln w="12700">
            <a:solidFill>
              <a:srgbClr val="1B243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Box 6"/>
          <p:cNvSpPr/>
          <p:nvPr/>
        </p:nvSpPr>
        <p:spPr>
          <a:xfrm>
            <a:off x="713160" y="1847160"/>
            <a:ext cx="7168680" cy="15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for (blob : findBlobs(warped))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  a = blob.area;  ar = w / h;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  if (a &lt; 0.02*cell || a &gt; 0.80*cell) reject;  (either noise or grid)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  if (ar &lt; 0.2 || ar &gt; 1.5)           reject;  (some wrong blob/ noise)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  row = blob.center.y / cellSize;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  col = blob.center.x / cellSize;     // place in 9x9 matrix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7"/>
          <p:cNvSpPr/>
          <p:nvPr/>
        </p:nvSpPr>
        <p:spPr>
          <a:xfrm>
            <a:off x="548640" y="4526280"/>
            <a:ext cx="1097244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Each white component is tested by area and aspect ratio: specks are too small, the grid frame is one huge blob, both are dropped.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Surviving blobs are real digits — placed into the 9×9 grid by their centroid.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Bug fixed here: the original flood fill grew into the background (inverted test) and the area threshold rejected every digit.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218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ectangle 2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3DC9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3"/>
          <p:cNvSpPr/>
          <p:nvPr/>
        </p:nvSpPr>
        <p:spPr>
          <a:xfrm>
            <a:off x="548640" y="3200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STAGE 5 — RECOGNISE DIGITS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4"/>
          <p:cNvSpPr/>
          <p:nvPr/>
        </p:nvSpPr>
        <p:spPr>
          <a:xfrm>
            <a:off x="548640" y="60336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3000" b="1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The reliable part: normalise + k-NN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ectangle 5"/>
          <p:cNvSpPr/>
          <p:nvPr/>
        </p:nvSpPr>
        <p:spPr>
          <a:xfrm>
            <a:off x="548640" y="1737360"/>
            <a:ext cx="6400440" cy="2742840"/>
          </a:xfrm>
          <a:prstGeom prst="rect">
            <a:avLst/>
          </a:prstGeom>
          <a:solidFill>
            <a:srgbClr val="0C1016"/>
          </a:solidFill>
          <a:ln w="12700">
            <a:solidFill>
              <a:srgbClr val="1B243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6"/>
          <p:cNvSpPr/>
          <p:nvPr/>
        </p:nvSpPr>
        <p:spPr>
          <a:xfrm>
            <a:off x="713160" y="1847160"/>
            <a:ext cx="6071400" cy="252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normalise(cell):   // crop -&gt; aspect-resize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 -&gt; centre by mass on 28x28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features = pixels(784) + zoning(7x7)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       + h_proj(28) + v_proj(28)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// weighted vote over K=5 nearest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votes[d] += 1 / (dist + eps);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7"/>
          <p:cNvSpPr/>
          <p:nvPr/>
        </p:nvSpPr>
        <p:spPr>
          <a:xfrm>
            <a:off x="548640" y="4663440"/>
            <a:ext cx="109724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Aspect-preserving + centroid centring stop a thin '1' being stretched to look like others.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7×7 zoning (density per region) is what separates the look-alikes: 1/7, 3/8.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Reference set = 302 REAL digits harvested from solved grids (templates_knn/), not one synthetic template each.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8"/>
          <p:cNvSpPr/>
          <p:nvPr/>
        </p:nvSpPr>
        <p:spPr>
          <a:xfrm>
            <a:off x="7223760" y="1783080"/>
            <a:ext cx="438876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4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Why k-NN on real samples?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0" u="none" strike="noStrike">
                <a:solidFill>
                  <a:srgbClr val="9AA7B4"/>
                </a:solidFill>
                <a:effectLst/>
                <a:uFillTx/>
                <a:latin typeface="DejaVu Sans"/>
              </a:rPr>
              <a:t>One template per digit is brittle across fonts &amp; warps. Many real examples + a nearest-neighbour vote generalise far better — and labels are trustworthy because a grid only 'solves' if every given was read correctly.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218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Rectangle 2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3DC9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" name="TextBox 3"/>
          <p:cNvSpPr/>
          <p:nvPr/>
        </p:nvSpPr>
        <p:spPr>
          <a:xfrm>
            <a:off x="548640" y="3200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STAGE 6a — SOLVE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4"/>
          <p:cNvSpPr/>
          <p:nvPr/>
        </p:nvSpPr>
        <p:spPr>
          <a:xfrm>
            <a:off x="548640" y="60336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3000" b="1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Backtracking with a safety guard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ectangle 5"/>
          <p:cNvSpPr/>
          <p:nvPr/>
        </p:nvSpPr>
        <p:spPr>
          <a:xfrm>
            <a:off x="548640" y="1737360"/>
            <a:ext cx="6766200" cy="2925720"/>
          </a:xfrm>
          <a:prstGeom prst="rect">
            <a:avLst/>
          </a:prstGeom>
          <a:solidFill>
            <a:srgbClr val="0C1016"/>
          </a:solidFill>
          <a:ln w="12700">
            <a:solidFill>
              <a:srgbClr val="1B243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6"/>
          <p:cNvSpPr/>
          <p:nvPr/>
        </p:nvSpPr>
        <p:spPr>
          <a:xfrm>
            <a:off x="713160" y="1847160"/>
            <a:ext cx="6437160" cy="270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bool backtrack(grid)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if (++steps &gt; 2'000'000) return false; // guard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pick first empty cell;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for (n = 1..9)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  if (isValid(grid,r,c,n))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    grid[r][c]=n;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    if (backtrack(grid)) return true;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    grid[r][c]=0;        // undo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  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7"/>
          <p:cNvSpPr/>
          <p:nvPr/>
        </p:nvSpPr>
        <p:spPr>
          <a:xfrm>
            <a:off x="7589520" y="1920240"/>
            <a:ext cx="402300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Classic depth-first search: try a digit, recurse, undo on failure.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isValid checks the row, column and 3×3 box.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The step cap means a mis-read (inconsistent) grid can never hang — it just reports 'could not solve'.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218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Rectangle 2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3DC98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3"/>
          <p:cNvSpPr/>
          <p:nvPr/>
        </p:nvSpPr>
        <p:spPr>
          <a:xfrm>
            <a:off x="548640" y="3200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30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STAGE 6b — DRAW THE ANSWER BACK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4"/>
          <p:cNvSpPr/>
          <p:nvPr/>
        </p:nvSpPr>
        <p:spPr>
          <a:xfrm>
            <a:off x="548640" y="60336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3000" b="1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From solved grid to annotated photo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ectangle 5"/>
          <p:cNvSpPr/>
          <p:nvPr/>
        </p:nvSpPr>
        <p:spPr>
          <a:xfrm>
            <a:off x="548640" y="1737360"/>
            <a:ext cx="5760360" cy="2377080"/>
          </a:xfrm>
          <a:prstGeom prst="rect">
            <a:avLst/>
          </a:prstGeom>
          <a:solidFill>
            <a:srgbClr val="0C1016"/>
          </a:solidFill>
          <a:ln w="12700">
            <a:solidFill>
              <a:srgbClr val="1B243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Box 6"/>
          <p:cNvSpPr/>
          <p:nvPr/>
        </p:nvSpPr>
        <p:spPr>
          <a:xfrm>
            <a:off x="713160" y="1847160"/>
            <a:ext cx="5431320" cy="21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for empty cells: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putText(overlay, solved[r][c], centre);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warpPerspective(overlay, back,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                Minv, img.size());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250" b="0" u="none" strike="noStrike">
                <a:solidFill>
                  <a:srgbClr val="CFE3D4"/>
                </a:solidFill>
                <a:effectLst/>
                <a:uFillTx/>
                <a:latin typeface="DejaVu Sans Mono"/>
              </a:rPr>
              <a:t>composite where back != 0;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7"/>
          <p:cNvSpPr/>
          <p:nvPr/>
        </p:nvSpPr>
        <p:spPr>
          <a:xfrm>
            <a:off x="548640" y="4297680"/>
            <a:ext cx="576036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Only the cells that were empty are drawn — the printed givens stay untouched.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01"/>
              </a:spcAft>
            </a:pPr>
            <a:r>
              <a:rPr lang="en-US" sz="1350" b="1" u="none" strike="noStrike">
                <a:solidFill>
                  <a:srgbClr val="3DC984"/>
                </a:solidFill>
                <a:effectLst/>
                <a:uFillTx/>
                <a:latin typeface="DejaVu Sans"/>
              </a:rPr>
              <a:t>•  </a:t>
            </a:r>
            <a:r>
              <a:rPr lang="en-US" sz="1350" b="0" u="none" strike="noStrike">
                <a:solidFill>
                  <a:srgbClr val="E6EDF3"/>
                </a:solidFill>
                <a:effectLst/>
                <a:uFillTx/>
                <a:latin typeface="DejaVu Sans"/>
              </a:rPr>
              <a:t>The overlay is built in the flat 450×450 frame, then warped BACK with the inverse homography so the digits sit in the original perspective.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ectangle 8"/>
          <p:cNvSpPr/>
          <p:nvPr/>
        </p:nvSpPr>
        <p:spPr>
          <a:xfrm>
            <a:off x="6812280" y="1737360"/>
            <a:ext cx="4845960" cy="4114440"/>
          </a:xfrm>
          <a:prstGeom prst="rect">
            <a:avLst/>
          </a:prstGeom>
          <a:solidFill>
            <a:srgbClr val="1B2431"/>
          </a:solidFill>
          <a:ln w="12700">
            <a:solidFill>
              <a:srgbClr val="5AA9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66" name="Picture 9" descr="04_final.png"/>
          <p:cNvPicPr/>
          <p:nvPr/>
        </p:nvPicPr>
        <p:blipFill>
          <a:blip r:embed="rId1"/>
          <a:stretch/>
        </p:blipFill>
        <p:spPr>
          <a:xfrm>
            <a:off x="7099920" y="1783080"/>
            <a:ext cx="4270680" cy="402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7" name="TextBox 10"/>
          <p:cNvSpPr/>
          <p:nvPr/>
        </p:nvSpPr>
        <p:spPr>
          <a:xfrm>
            <a:off x="6858000" y="5861160"/>
            <a:ext cx="475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0" u="none" strike="noStrike">
                <a:solidFill>
                  <a:srgbClr val="9AA7B4"/>
                </a:solidFill>
                <a:effectLst/>
                <a:uFillTx/>
                <a:latin typeface="DejaVu Sans"/>
              </a:rPr>
              <a:t>final result (perspective-2)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</TotalTime>
  <Application>LibreOffice/26.2.3.2$Linux_X86_64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2026-06-02T21:51:01Z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