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468880"/>
            <a:ext cx="12191695" cy="54864"/>
          </a:xfrm>
          <a:prstGeom prst="rect">
            <a:avLst/>
          </a:prstGeom>
          <a:solidFill>
            <a:srgbClr val="3DC9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5200" b="1">
                <a:solidFill>
                  <a:srgbClr val="E6EDF3"/>
                </a:solidFill>
                <a:latin typeface="DejaVu Sans"/>
              </a:rPr>
              <a:t>Sudoku Solver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5AA9F0"/>
                </a:solidFill>
                <a:latin typeface="DejaVu Sans"/>
              </a:rPr>
              <a:t>Computer-vision pipeline in C++ / OpenCV — image-processing from scratch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9496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AA7B4"/>
                </a:solidFill>
                <a:latin typeface="DejaVu Sans"/>
              </a:rPr>
              <a:t>Reads a photo of a puzzle  →  finds &amp; rectifies the grid  →  recognises the digits  →  solves  →  draws the answer back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8458200" y="3337560"/>
            <a:ext cx="3108960" cy="1828800"/>
          </a:xfrm>
          <a:prstGeom prst="rect">
            <a:avLst/>
          </a:prstGeom>
          <a:solidFill>
            <a:srgbClr val="1B2431"/>
          </a:solidFill>
          <a:ln w="12700">
            <a:solidFill>
              <a:srgbClr val="5AA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0_in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0525" y="3383280"/>
            <a:ext cx="1844308" cy="1737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03920" y="5175503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A7B4"/>
                </a:solidFill>
                <a:latin typeface="DejaVu Sans"/>
              </a:rPr>
              <a:t>input (perspective-2)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4920" y="3337560"/>
            <a:ext cx="3108960" cy="1828800"/>
          </a:xfrm>
          <a:prstGeom prst="rect">
            <a:avLst/>
          </a:prstGeom>
          <a:solidFill>
            <a:srgbClr val="1B2431"/>
          </a:solidFill>
          <a:ln w="12700">
            <a:solidFill>
              <a:srgbClr val="5AA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4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7245" y="3383280"/>
            <a:ext cx="1844308" cy="1737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120640" y="5175503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A7B4"/>
                </a:solidFill>
                <a:latin typeface="DejaVu Sans"/>
              </a:rPr>
              <a:t>solved output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DC9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DC984"/>
                </a:solidFill>
                <a:latin typeface="DejaVu Sans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6EDF3"/>
                </a:solidFill>
                <a:latin typeface="DejaVu Sans"/>
              </a:rPr>
              <a:t>What the project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85216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3DC984"/>
                </a:solidFill>
                <a:latin typeface="DejaVu Sans"/>
              </a:rPr>
              <a:t>•  </a:t>
            </a:r>
            <a:r>
              <a:rPr sz="1500" b="0">
                <a:solidFill>
                  <a:srgbClr val="E6EDF3"/>
                </a:solidFill>
                <a:latin typeface="DejaVu Sans"/>
              </a:rPr>
              <a:t>Input: a single photo of a Sudoku grid (possibly skewed / perspective).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3DC984"/>
                </a:solidFill>
                <a:latin typeface="DejaVu Sans"/>
              </a:rPr>
              <a:t>•  </a:t>
            </a:r>
            <a:r>
              <a:rPr sz="1500" b="0">
                <a:solidFill>
                  <a:srgbClr val="E6EDF3"/>
                </a:solidFill>
                <a:latin typeface="DejaVu Sans"/>
              </a:rPr>
              <a:t>Output: the same image with the missing digits filled in, in green.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3DC984"/>
                </a:solidFill>
                <a:latin typeface="DejaVu Sans"/>
              </a:rPr>
              <a:t>•  </a:t>
            </a:r>
            <a:r>
              <a:rPr sz="1500" b="0">
                <a:solidFill>
                  <a:srgbClr val="E6EDF3"/>
                </a:solidFill>
                <a:latin typeface="DejaVu Sans"/>
              </a:rPr>
              <a:t>Constraint: NO built-in recognition / contour / ML functions — every step is hand-written.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3DC984"/>
                </a:solidFill>
                <a:latin typeface="DejaVu Sans"/>
              </a:rPr>
              <a:t>•  </a:t>
            </a:r>
            <a:r>
              <a:rPr sz="1500" b="0">
                <a:solidFill>
                  <a:srgbClr val="E6EDF3"/>
                </a:solidFill>
                <a:latin typeface="DejaVu Sans"/>
              </a:rPr>
              <a:t>OpenCV is used only for: image I/O, matrices, the perspective transform, and drawing text.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3DC984"/>
                </a:solidFill>
                <a:latin typeface="DejaVu Sans"/>
              </a:rPr>
              <a:t>•  </a:t>
            </a:r>
            <a:r>
              <a:rPr sz="1500" b="0">
                <a:solidFill>
                  <a:srgbClr val="E6EDF3"/>
                </a:solidFill>
                <a:latin typeface="DejaVu Sans"/>
              </a:rPr>
              <a:t>Robustness comes from a real, harvested digit library + nearest-neighbour matching.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720840" y="1691639"/>
            <a:ext cx="2377440" cy="2468880"/>
          </a:xfrm>
          <a:prstGeom prst="rect">
            <a:avLst/>
          </a:prstGeom>
          <a:solidFill>
            <a:srgbClr val="1B2431"/>
          </a:solidFill>
          <a:ln w="12700">
            <a:solidFill>
              <a:srgbClr val="5AA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0_in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849360"/>
            <a:ext cx="2286000" cy="21534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66560" y="4169663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A7B4"/>
                </a:solidFill>
                <a:latin typeface="DejaVu Sans"/>
              </a:rPr>
              <a:t>input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89719" y="1691639"/>
            <a:ext cx="2377440" cy="2468880"/>
          </a:xfrm>
          <a:prstGeom prst="rect">
            <a:avLst/>
          </a:prstGeom>
          <a:solidFill>
            <a:srgbClr val="1B2431"/>
          </a:solidFill>
          <a:ln w="12700">
            <a:solidFill>
              <a:srgbClr val="5AA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4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0" y="1849360"/>
            <a:ext cx="2286000" cy="215343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235440" y="4169663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A7B4"/>
                </a:solidFill>
                <a:latin typeface="DejaVu Sans"/>
              </a:rPr>
              <a:t>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4572000"/>
            <a:ext cx="4754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6EDF3"/>
                </a:solidFill>
                <a:latin typeface="DejaVu Sans"/>
              </a:rPr>
              <a:t>Result on all 12 test images: </a:t>
            </a:r>
            <a:r>
              <a:rPr sz="1500" b="1">
                <a:solidFill>
                  <a:srgbClr val="3DC984"/>
                </a:solidFill>
                <a:latin typeface="DejaVu Sans"/>
              </a:rPr>
              <a:t>9 / 12 solved</a:t>
            </a:r>
            <a:r>
              <a:rPr sz="1500" b="0">
                <a:solidFill>
                  <a:srgbClr val="E6EDF3"/>
                </a:solidFill>
                <a:latin typeface="DejaVu Sans"/>
              </a:rPr>
              <a:t> (all clean + all perspective + 1 warped).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DC9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DC984"/>
                </a:solidFill>
                <a:latin typeface="DejaVu Sans"/>
              </a:rPr>
              <a:t>THE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6EDF3"/>
                </a:solidFill>
                <a:latin typeface="DejaVu Sans"/>
              </a:rPr>
              <a:t>Six stages, one straight 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11064240" cy="676656"/>
          </a:xfrm>
          <a:prstGeom prst="rect">
            <a:avLst/>
          </a:prstGeom>
          <a:solidFill>
            <a:srgbClr val="1B2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09728" cy="676656"/>
          </a:xfrm>
          <a:prstGeom prst="rect">
            <a:avLst/>
          </a:prstGeom>
          <a:solidFill>
            <a:srgbClr val="3DC9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73352"/>
            <a:ext cx="2926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3DC984"/>
                </a:solidFill>
                <a:latin typeface="DejaVu Sans"/>
              </a:rPr>
              <a:t>1  Pre-process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673352"/>
            <a:ext cx="749807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E6EDF3"/>
                </a:solidFill>
                <a:latin typeface="DejaVu Sans"/>
              </a:rPr>
              <a:t>Gaussian blur → adaptive threshold → morphological close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86584"/>
            <a:ext cx="11064240" cy="676656"/>
          </a:xfrm>
          <a:prstGeom prst="rect">
            <a:avLst/>
          </a:prstGeom>
          <a:solidFill>
            <a:srgbClr val="1B2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386584"/>
            <a:ext cx="109728" cy="676656"/>
          </a:xfrm>
          <a:prstGeom prst="rect">
            <a:avLst/>
          </a:prstGeom>
          <a:solidFill>
            <a:srgbClr val="5AA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459736"/>
            <a:ext cx="2926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5AA9F0"/>
                </a:solidFill>
                <a:latin typeface="DejaVu Sans"/>
              </a:rPr>
              <a:t>2  Locate grid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459736"/>
            <a:ext cx="749807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E6EDF3"/>
                </a:solidFill>
                <a:latin typeface="DejaVu Sans"/>
              </a:rPr>
              <a:t>Largest connected blob → its 4 extreme corners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172968"/>
            <a:ext cx="11064240" cy="676656"/>
          </a:xfrm>
          <a:prstGeom prst="rect">
            <a:avLst/>
          </a:prstGeom>
          <a:solidFill>
            <a:srgbClr val="1B2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172968"/>
            <a:ext cx="109728" cy="676656"/>
          </a:xfrm>
          <a:prstGeom prst="rect">
            <a:avLst/>
          </a:prstGeom>
          <a:solidFill>
            <a:srgbClr val="3DC9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246120"/>
            <a:ext cx="2926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3DC984"/>
                </a:solidFill>
                <a:latin typeface="DejaVu Sans"/>
              </a:rPr>
              <a:t>3  Rectify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246120"/>
            <a:ext cx="749807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E6EDF3"/>
                </a:solidFill>
                <a:latin typeface="DejaVu Sans"/>
              </a:rPr>
              <a:t>Perspective transform → 450×450 fronto-parallel grid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959352"/>
            <a:ext cx="11064240" cy="676656"/>
          </a:xfrm>
          <a:prstGeom prst="rect">
            <a:avLst/>
          </a:prstGeom>
          <a:solidFill>
            <a:srgbClr val="1B2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959352"/>
            <a:ext cx="109728" cy="676656"/>
          </a:xfrm>
          <a:prstGeom prst="rect">
            <a:avLst/>
          </a:prstGeom>
          <a:solidFill>
            <a:srgbClr val="5AA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032504"/>
            <a:ext cx="2926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5AA9F0"/>
                </a:solidFill>
                <a:latin typeface="DejaVu Sans"/>
              </a:rPr>
              <a:t>4  Extract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4032504"/>
            <a:ext cx="749807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E6EDF3"/>
                </a:solidFill>
                <a:latin typeface="DejaVu Sans"/>
              </a:rPr>
              <a:t>Flood-fill blobs → filter by size/aspect → assign to 9×9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745736"/>
            <a:ext cx="11064240" cy="676656"/>
          </a:xfrm>
          <a:prstGeom prst="rect">
            <a:avLst/>
          </a:prstGeom>
          <a:solidFill>
            <a:srgbClr val="1B2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745736"/>
            <a:ext cx="109728" cy="676656"/>
          </a:xfrm>
          <a:prstGeom prst="rect">
            <a:avLst/>
          </a:prstGeom>
          <a:solidFill>
            <a:srgbClr val="3DC9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818888"/>
            <a:ext cx="2926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3DC984"/>
                </a:solidFill>
                <a:latin typeface="DejaVu Sans"/>
              </a:rPr>
              <a:t>5  Recognise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4818888"/>
            <a:ext cx="749807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E6EDF3"/>
                </a:solidFill>
                <a:latin typeface="DejaVu Sans"/>
              </a:rPr>
              <a:t>Normalise → zoning + projections → weighted k-NN vote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532120"/>
            <a:ext cx="11064240" cy="676656"/>
          </a:xfrm>
          <a:prstGeom prst="rect">
            <a:avLst/>
          </a:prstGeom>
          <a:solidFill>
            <a:srgbClr val="1B2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5532120"/>
            <a:ext cx="109728" cy="676656"/>
          </a:xfrm>
          <a:prstGeom prst="rect">
            <a:avLst/>
          </a:prstGeom>
          <a:solidFill>
            <a:srgbClr val="5AA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605272"/>
            <a:ext cx="2926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5AA9F0"/>
                </a:solidFill>
                <a:latin typeface="DejaVu Sans"/>
              </a:rPr>
              <a:t>6  Solve + draw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5605272"/>
            <a:ext cx="749807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E6EDF3"/>
                </a:solidFill>
                <a:latin typeface="DejaVu Sans"/>
              </a:rPr>
              <a:t>Backtracking solver → render answer → inverse-warp back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DC9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DC984"/>
                </a:solidFill>
                <a:latin typeface="DejaVu Sans"/>
              </a:rPr>
              <a:t>STAGE 1 — PRE-PROCESSING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6EDF3"/>
                </a:solidFill>
                <a:latin typeface="DejaVu Sans"/>
              </a:rPr>
              <a:t>Clean the image, isolate the ink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5760720" cy="1737360"/>
          </a:xfrm>
          <a:prstGeom prst="rect">
            <a:avLst/>
          </a:prstGeom>
          <a:solidFill>
            <a:srgbClr val="0C1016"/>
          </a:solidFill>
          <a:ln w="12700">
            <a:solidFill>
              <a:srgbClr val="1B24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01368"/>
            <a:ext cx="5431536" cy="15179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3D4"/>
                </a:solidFill>
                <a:latin typeface="DejaVu Sans Mono"/>
              </a:rPr>
              <a:t>blurred     = gaussianBlur(gray, 5);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3D4"/>
                </a:solidFill>
                <a:latin typeface="DejaVu Sans Mono"/>
              </a:rPr>
              <a:t>thresholded = adaptiveThreshold(blurred, 21, 15);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3D4"/>
                </a:solidFill>
                <a:latin typeface="DejaVu Sans Mono"/>
              </a:rPr>
              <a:t>morphed     = morphClose(thresholded, 5);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57600"/>
            <a:ext cx="576072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3DC984"/>
                </a:solidFill>
                <a:latin typeface="DejaVu Sans"/>
              </a:rPr>
              <a:t>•  </a:t>
            </a:r>
            <a:r>
              <a:rPr sz="1350" b="0">
                <a:solidFill>
                  <a:srgbClr val="E6EDF3"/>
                </a:solidFill>
                <a:latin typeface="DejaVu Sans"/>
              </a:rPr>
              <a:t>Gaussian blur: separable convolution — kills sensor noise so thresholding is stable.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3DC984"/>
                </a:solidFill>
                <a:latin typeface="DejaVu Sans"/>
              </a:rPr>
              <a:t>•  </a:t>
            </a:r>
            <a:r>
              <a:rPr sz="1350" b="0">
                <a:solidFill>
                  <a:srgbClr val="E6EDF3"/>
                </a:solidFill>
                <a:latin typeface="DejaVu Sans"/>
              </a:rPr>
              <a:t>Adaptive threshold (local mean via an integral image): copes with uneven lighting; gives white ink on black.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3DC984"/>
                </a:solidFill>
                <a:latin typeface="DejaVu Sans"/>
              </a:rPr>
              <a:t>•  </a:t>
            </a:r>
            <a:r>
              <a:rPr sz="1350" b="0">
                <a:solidFill>
                  <a:srgbClr val="E6EDF3"/>
                </a:solidFill>
                <a:latin typeface="DejaVu Sans"/>
              </a:rPr>
              <a:t>Morphological close: seals tiny gaps in the grid lines before we trace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12280" y="1691639"/>
            <a:ext cx="2423160" cy="2331720"/>
          </a:xfrm>
          <a:prstGeom prst="rect">
            <a:avLst/>
          </a:prstGeom>
          <a:solidFill>
            <a:srgbClr val="1B2431"/>
          </a:solidFill>
          <a:ln w="12700">
            <a:solidFill>
              <a:srgbClr val="5AA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1_bl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759246"/>
            <a:ext cx="2331720" cy="219650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0" y="4032503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A7B4"/>
                </a:solidFill>
                <a:latin typeface="DejaVu Sans"/>
              </a:rPr>
              <a:t>after blur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81159" y="1691639"/>
            <a:ext cx="2423160" cy="2331720"/>
          </a:xfrm>
          <a:prstGeom prst="rect">
            <a:avLst/>
          </a:prstGeom>
          <a:solidFill>
            <a:srgbClr val="1B2431"/>
          </a:solidFill>
          <a:ln w="12700">
            <a:solidFill>
              <a:srgbClr val="5AA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2_thresh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1759246"/>
            <a:ext cx="2331720" cy="219650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326880" y="4032503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A7B4"/>
                </a:solidFill>
                <a:latin typeface="DejaVu Sans"/>
              </a:rPr>
              <a:t>after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480560"/>
            <a:ext cx="48463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3DC984"/>
                </a:solidFill>
                <a:latin typeface="DejaVu Sans"/>
              </a:rPr>
              <a:t>Why local (adaptive) thresholding?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A7B4"/>
                </a:solidFill>
                <a:latin typeface="DejaVu Sans"/>
              </a:rPr>
              <a:t>A single global cut-off fails when one corner of the photo is darker. Comparing each pixel to its neighbourhood mean keeps the strokes everywhere.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DC9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DC984"/>
                </a:solidFill>
                <a:latin typeface="DejaVu Sans"/>
              </a:rPr>
              <a:t>STAGE 2-3 — LOCATE &amp; RECTIFY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6EDF3"/>
                </a:solidFill>
                <a:latin typeface="DejaVu Sans"/>
              </a:rPr>
              <a:t>Find the grid, flatten the perspective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5943600" cy="2286000"/>
          </a:xfrm>
          <a:prstGeom prst="rect">
            <a:avLst/>
          </a:prstGeom>
          <a:solidFill>
            <a:srgbClr val="0C1016"/>
          </a:solidFill>
          <a:ln w="12700">
            <a:solidFill>
              <a:srgbClr val="1B24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01368"/>
            <a:ext cx="5614416" cy="20665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3D4"/>
                </a:solidFill>
                <a:latin typeface="DejaVu Sans Mono"/>
              </a:rPr>
              <a:t>blob    = findLargestBlob(morphed);   // BFS flood fill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3D4"/>
                </a:solidFill>
                <a:latin typeface="DejaVu Sans Mono"/>
              </a:rPr>
              <a:t>corners = getGridCorners(blob);       // extreme x+y / x-y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3D4"/>
                </a:solidFill>
                <a:latin typeface="DejaVu Sans Mono"/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3D4"/>
                </a:solidFill>
                <a:latin typeface="DejaVu Sans Mono"/>
              </a:rPr>
              <a:t>M = getPerspectiveTransform(src, dst);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3D4"/>
                </a:solidFill>
                <a:latin typeface="DejaVu Sans Mono"/>
              </a:rPr>
              <a:t>warpPerspective(thresholded, warped,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3D4"/>
                </a:solidFill>
                <a:latin typeface="DejaVu Sans Mono"/>
              </a:rPr>
              <a:t>                M, {450,450}, INTER_NEAREST);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06240"/>
            <a:ext cx="59436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3DC984"/>
                </a:solidFill>
                <a:latin typeface="DejaVu Sans"/>
              </a:rPr>
              <a:t>•  </a:t>
            </a:r>
            <a:r>
              <a:rPr sz="1350" b="0">
                <a:solidFill>
                  <a:srgbClr val="E6EDF3"/>
                </a:solidFill>
                <a:latin typeface="DejaVu Sans"/>
              </a:rPr>
              <a:t>The grid frame is the biggest white connected component in the image.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3DC984"/>
                </a:solidFill>
                <a:latin typeface="DejaVu Sans"/>
              </a:rPr>
              <a:t>•  </a:t>
            </a:r>
            <a:r>
              <a:rPr sz="1350" b="0">
                <a:solidFill>
                  <a:srgbClr val="E6EDF3"/>
                </a:solidFill>
                <a:latin typeface="DejaVu Sans"/>
              </a:rPr>
              <a:t>Its 4 corners = pixels with min/max of (x+y) and (x−y).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3DC984"/>
                </a:solidFill>
                <a:latin typeface="DejaVu Sans"/>
              </a:rPr>
              <a:t>•  </a:t>
            </a:r>
            <a:r>
              <a:rPr sz="1350" b="0">
                <a:solidFill>
                  <a:srgbClr val="E6EDF3"/>
                </a:solidFill>
                <a:latin typeface="DejaVu Sans"/>
              </a:rPr>
              <a:t>A homography maps those corners to a clean 450×450 square; the inverse is kept to warp the answer back later.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7818119" y="1737360"/>
            <a:ext cx="3474720" cy="3474720"/>
          </a:xfrm>
          <a:prstGeom prst="rect">
            <a:avLst/>
          </a:prstGeom>
          <a:solidFill>
            <a:srgbClr val="1B2431"/>
          </a:solidFill>
          <a:ln w="12700">
            <a:solidFill>
              <a:srgbClr val="5AA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3_war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783080"/>
            <a:ext cx="3383280" cy="3383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863840" y="5221224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A7B4"/>
                </a:solidFill>
                <a:latin typeface="DejaVu Sans"/>
              </a:rPr>
              <a:t>rectified 450×450 grid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DC9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DC984"/>
                </a:solidFill>
                <a:latin typeface="DejaVu Sans"/>
              </a:rPr>
              <a:t>STAGE 4 — EXTRACT DIGIT CELLS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6EDF3"/>
                </a:solidFill>
                <a:latin typeface="DejaVu Sans"/>
              </a:rPr>
              <a:t>Separate digits from grid lines &amp; noise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7498079" cy="2468880"/>
          </a:xfrm>
          <a:prstGeom prst="rect">
            <a:avLst/>
          </a:prstGeom>
          <a:solidFill>
            <a:srgbClr val="0C1016"/>
          </a:solidFill>
          <a:ln w="12700">
            <a:solidFill>
              <a:srgbClr val="1B24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47088"/>
            <a:ext cx="7168895" cy="22494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3D4"/>
                </a:solidFill>
                <a:latin typeface="DejaVu Sans Mono"/>
              </a:rPr>
              <a:t>for (blob : findBlobs(warped)) {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3D4"/>
                </a:solidFill>
                <a:latin typeface="DejaVu Sans Mono"/>
              </a:rPr>
              <a:t>    a = blob.area;  ar = w / h;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3D4"/>
                </a:solidFill>
                <a:latin typeface="DejaVu Sans Mono"/>
              </a:rPr>
              <a:t>    if (a &lt; 0.02*cell || a &gt; 0.80*cell) reject;  // noise / frame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3D4"/>
                </a:solidFill>
                <a:latin typeface="DejaVu Sans Mono"/>
              </a:rPr>
              <a:t>    if (ar &lt; 0.2 || ar &gt; 1.5)           reject;  // wrong shape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3D4"/>
                </a:solidFill>
                <a:latin typeface="DejaVu Sans Mono"/>
              </a:rPr>
              <a:t>    row = blob.center.y / cellSize;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3D4"/>
                </a:solidFill>
                <a:latin typeface="DejaVu Sans Mono"/>
              </a:rPr>
              <a:t>    col = blob.center.x / cellSize;     // place in 9x9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3D4"/>
                </a:solidFill>
                <a:latin typeface="DejaVu Sans Mono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26280"/>
            <a:ext cx="109728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3DC984"/>
                </a:solidFill>
                <a:latin typeface="DejaVu Sans"/>
              </a:rPr>
              <a:t>•  </a:t>
            </a:r>
            <a:r>
              <a:rPr sz="1350" b="0">
                <a:solidFill>
                  <a:srgbClr val="E6EDF3"/>
                </a:solidFill>
                <a:latin typeface="DejaVu Sans"/>
              </a:rPr>
              <a:t>Each white component is tested by area and aspect ratio: specks are too small, the grid frame is one huge blob, both are dropped.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3DC984"/>
                </a:solidFill>
                <a:latin typeface="DejaVu Sans"/>
              </a:rPr>
              <a:t>•  </a:t>
            </a:r>
            <a:r>
              <a:rPr sz="1350" b="0">
                <a:solidFill>
                  <a:srgbClr val="E6EDF3"/>
                </a:solidFill>
                <a:latin typeface="DejaVu Sans"/>
              </a:rPr>
              <a:t>Surviving blobs are real digits — placed into the 9×9 grid by their centroid.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3DC984"/>
                </a:solidFill>
                <a:latin typeface="DejaVu Sans"/>
              </a:rPr>
              <a:t>•  </a:t>
            </a:r>
            <a:r>
              <a:rPr sz="1350" b="0">
                <a:solidFill>
                  <a:srgbClr val="E6EDF3"/>
                </a:solidFill>
                <a:latin typeface="DejaVu Sans"/>
              </a:rPr>
              <a:t>Bug fixed here: the original flood fill grew into the background (inverted test) and the area threshold rejected every digit.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DC9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DC984"/>
                </a:solidFill>
                <a:latin typeface="DejaVu Sans"/>
              </a:rPr>
              <a:t>STAGE 5 — RECOGNISE DIGITS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6EDF3"/>
                </a:solidFill>
                <a:latin typeface="DejaVu Sans"/>
              </a:rPr>
              <a:t>The reliable part: normalise + k-NN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6400800" cy="2743200"/>
          </a:xfrm>
          <a:prstGeom prst="rect">
            <a:avLst/>
          </a:prstGeom>
          <a:solidFill>
            <a:srgbClr val="0C1016"/>
          </a:solidFill>
          <a:ln w="12700">
            <a:solidFill>
              <a:srgbClr val="1B24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47088"/>
            <a:ext cx="6071616" cy="2523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3D4"/>
                </a:solidFill>
                <a:latin typeface="DejaVu Sans Mono"/>
              </a:rPr>
              <a:t>normalise(cell):   // crop -&gt; aspect-resize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3D4"/>
                </a:solidFill>
                <a:latin typeface="DejaVu Sans Mono"/>
              </a:rPr>
              <a:t>   -&gt; centre by mass on 28x28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3D4"/>
                </a:solidFill>
                <a:latin typeface="DejaVu Sans Mono"/>
              </a:rPr>
              <a:t>features = pixels(784) + zoning(7x7)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3D4"/>
                </a:solidFill>
                <a:latin typeface="DejaVu Sans Mono"/>
              </a:rPr>
              <a:t>         + h_proj(28) + v_proj(28)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3D4"/>
                </a:solidFill>
                <a:latin typeface="DejaVu Sans Mono"/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3D4"/>
                </a:solidFill>
                <a:latin typeface="DejaVu Sans Mono"/>
              </a:rPr>
              <a:t>// weighted vote over K=5 nearest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3D4"/>
                </a:solidFill>
                <a:latin typeface="DejaVu Sans Mono"/>
              </a:rPr>
              <a:t>votes[d] += 1 / (dist + eps);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663440"/>
            <a:ext cx="1097280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3DC984"/>
                </a:solidFill>
                <a:latin typeface="DejaVu Sans"/>
              </a:rPr>
              <a:t>•  </a:t>
            </a:r>
            <a:r>
              <a:rPr sz="1350" b="0">
                <a:solidFill>
                  <a:srgbClr val="E6EDF3"/>
                </a:solidFill>
                <a:latin typeface="DejaVu Sans"/>
              </a:rPr>
              <a:t>Aspect-preserving + centroid centring stop a thin '1' being stretched to look like others.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3DC984"/>
                </a:solidFill>
                <a:latin typeface="DejaVu Sans"/>
              </a:rPr>
              <a:t>•  </a:t>
            </a:r>
            <a:r>
              <a:rPr sz="1350" b="0">
                <a:solidFill>
                  <a:srgbClr val="E6EDF3"/>
                </a:solidFill>
                <a:latin typeface="DejaVu Sans"/>
              </a:rPr>
              <a:t>7×7 zoning (density per region) is what separates the look-alikes: 1/7, 3/8.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3DC984"/>
                </a:solidFill>
                <a:latin typeface="DejaVu Sans"/>
              </a:rPr>
              <a:t>•  </a:t>
            </a:r>
            <a:r>
              <a:rPr sz="1350" b="0">
                <a:solidFill>
                  <a:srgbClr val="E6EDF3"/>
                </a:solidFill>
                <a:latin typeface="DejaVu Sans"/>
              </a:rPr>
              <a:t>Reference set = 302 REAL digits harvested from solved grids (templates_knn/), not one synthetic template each.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1783080"/>
            <a:ext cx="43891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3DC984"/>
                </a:solidFill>
                <a:latin typeface="DejaVu Sans"/>
              </a:rPr>
              <a:t>Why k-NN on real samples?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A7B4"/>
                </a:solidFill>
                <a:latin typeface="DejaVu Sans"/>
              </a:rPr>
              <a:t>One template per digit is brittle across fonts &amp; warps. Many real examples + a nearest-neighbour vote generalise far better — and labels are trustworthy because a grid only 'solves' if every given was read correctly.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DC9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DC984"/>
                </a:solidFill>
                <a:latin typeface="DejaVu Sans"/>
              </a:rPr>
              <a:t>STAGE 6a — SOLVE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6EDF3"/>
                </a:solidFill>
                <a:latin typeface="DejaVu Sans"/>
              </a:rPr>
              <a:t>Backtracking with a safety guard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6766560" cy="2926080"/>
          </a:xfrm>
          <a:prstGeom prst="rect">
            <a:avLst/>
          </a:prstGeom>
          <a:solidFill>
            <a:srgbClr val="0C1016"/>
          </a:solidFill>
          <a:ln w="12700">
            <a:solidFill>
              <a:srgbClr val="1B24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47088"/>
            <a:ext cx="6437376" cy="2706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3D4"/>
                </a:solidFill>
                <a:latin typeface="DejaVu Sans Mono"/>
              </a:rPr>
              <a:t>bool backtrack(grid) {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3D4"/>
                </a:solidFill>
                <a:latin typeface="DejaVu Sans Mono"/>
              </a:rPr>
              <a:t>  if (++steps &gt; 2'000'000) return false; // guard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3D4"/>
                </a:solidFill>
                <a:latin typeface="DejaVu Sans Mono"/>
              </a:rPr>
              <a:t>  pick first empty cell;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3D4"/>
                </a:solidFill>
                <a:latin typeface="DejaVu Sans Mono"/>
              </a:rPr>
              <a:t>  for (n = 1..9)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3D4"/>
                </a:solidFill>
                <a:latin typeface="DejaVu Sans Mono"/>
              </a:rPr>
              <a:t>    if (isValid(grid,r,c,n)) {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3D4"/>
                </a:solidFill>
                <a:latin typeface="DejaVu Sans Mono"/>
              </a:rPr>
              <a:t>      grid[r][c]=n;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3D4"/>
                </a:solidFill>
                <a:latin typeface="DejaVu Sans Mono"/>
              </a:rPr>
              <a:t>      if (backtrack(grid)) return true;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3D4"/>
                </a:solidFill>
                <a:latin typeface="DejaVu Sans Mono"/>
              </a:rPr>
              <a:t>      grid[r][c]=0;        // undo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3D4"/>
                </a:solidFill>
                <a:latin typeface="DejaVu Sans Mono"/>
              </a:rPr>
              <a:t>    }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3D4"/>
                </a:solidFill>
                <a:latin typeface="DejaVu Sans Mono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920240"/>
            <a:ext cx="402336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3DC984"/>
                </a:solidFill>
                <a:latin typeface="DejaVu Sans"/>
              </a:rPr>
              <a:t>•  </a:t>
            </a:r>
            <a:r>
              <a:rPr sz="1350" b="0">
                <a:solidFill>
                  <a:srgbClr val="E6EDF3"/>
                </a:solidFill>
                <a:latin typeface="DejaVu Sans"/>
              </a:rPr>
              <a:t>Classic depth-first search: try a digit, recurse, undo on failure.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3DC984"/>
                </a:solidFill>
                <a:latin typeface="DejaVu Sans"/>
              </a:rPr>
              <a:t>•  </a:t>
            </a:r>
            <a:r>
              <a:rPr sz="1350" b="0">
                <a:solidFill>
                  <a:srgbClr val="E6EDF3"/>
                </a:solidFill>
                <a:latin typeface="DejaVu Sans"/>
              </a:rPr>
              <a:t>isValid checks the row, column and 3×3 box.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3DC984"/>
                </a:solidFill>
                <a:latin typeface="DejaVu Sans"/>
              </a:rPr>
              <a:t>•  </a:t>
            </a:r>
            <a:r>
              <a:rPr sz="1350" b="0">
                <a:solidFill>
                  <a:srgbClr val="E6EDF3"/>
                </a:solidFill>
                <a:latin typeface="DejaVu Sans"/>
              </a:rPr>
              <a:t>The step cap means a mis-read (inconsistent) grid can never hang — it just reports 'could not solve'.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DC9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DC984"/>
                </a:solidFill>
                <a:latin typeface="DejaVu Sans"/>
              </a:rPr>
              <a:t>STAGE 6b — DRAW THE ANSWER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6EDF3"/>
                </a:solidFill>
                <a:latin typeface="DejaVu Sans"/>
              </a:rPr>
              <a:t>From solved grid to annotated photo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5760720" cy="2377440"/>
          </a:xfrm>
          <a:prstGeom prst="rect">
            <a:avLst/>
          </a:prstGeom>
          <a:solidFill>
            <a:srgbClr val="0C1016"/>
          </a:solidFill>
          <a:ln w="12700">
            <a:solidFill>
              <a:srgbClr val="1B24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47088"/>
            <a:ext cx="5431536" cy="2157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3D4"/>
                </a:solidFill>
                <a:latin typeface="DejaVu Sans Mono"/>
              </a:rPr>
              <a:t>for empty cells: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3D4"/>
                </a:solidFill>
                <a:latin typeface="DejaVu Sans Mono"/>
              </a:rPr>
              <a:t>  putText(overlay, solved[r][c], centre);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3D4"/>
                </a:solidFill>
                <a:latin typeface="DejaVu Sans Mono"/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3D4"/>
                </a:solidFill>
                <a:latin typeface="DejaVu Sans Mono"/>
              </a:rPr>
              <a:t>warpPerspective(overlay, back,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3D4"/>
                </a:solidFill>
                <a:latin typeface="DejaVu Sans Mono"/>
              </a:rPr>
              <a:t>                Minv, img.size());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3D4"/>
                </a:solidFill>
                <a:latin typeface="DejaVu Sans Mono"/>
              </a:rPr>
              <a:t>composite where back != 0;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57607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3DC984"/>
                </a:solidFill>
                <a:latin typeface="DejaVu Sans"/>
              </a:rPr>
              <a:t>•  </a:t>
            </a:r>
            <a:r>
              <a:rPr sz="1350" b="0">
                <a:solidFill>
                  <a:srgbClr val="E6EDF3"/>
                </a:solidFill>
                <a:latin typeface="DejaVu Sans"/>
              </a:rPr>
              <a:t>Only the cells that were empty are drawn — the printed givens stay untouched.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3DC984"/>
                </a:solidFill>
                <a:latin typeface="DejaVu Sans"/>
              </a:rPr>
              <a:t>•  </a:t>
            </a:r>
            <a:r>
              <a:rPr sz="1350" b="0">
                <a:solidFill>
                  <a:srgbClr val="E6EDF3"/>
                </a:solidFill>
                <a:latin typeface="DejaVu Sans"/>
              </a:rPr>
              <a:t>The overlay is built in the flat 450×450 frame, then warped BACK with the inverse homography so the digits sit in the original perspective.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12280" y="1737360"/>
            <a:ext cx="4846320" cy="4114800"/>
          </a:xfrm>
          <a:prstGeom prst="rect">
            <a:avLst/>
          </a:prstGeom>
          <a:solidFill>
            <a:srgbClr val="1B2431"/>
          </a:solidFill>
          <a:ln w="12700">
            <a:solidFill>
              <a:srgbClr val="5AA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9925" y="1783080"/>
            <a:ext cx="4271029" cy="40233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0" y="5861304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A7B4"/>
                </a:solidFill>
                <a:latin typeface="DejaVu Sans"/>
              </a:rPr>
              <a:t>final result (perspective-2)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DC9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DC984"/>
                </a:solidFill>
                <a:latin typeface="DejaVu Sans"/>
              </a:rPr>
              <a:t>RESULTS &amp; LIMITS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6EDF3"/>
                </a:solidFill>
                <a:latin typeface="DejaVu Sans"/>
              </a:rPr>
              <a:t>Where it works, where it doesn't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5486400" cy="4389120"/>
          </a:xfrm>
          <a:prstGeom prst="rect">
            <a:avLst/>
          </a:prstGeom>
          <a:solidFill>
            <a:srgbClr val="1B2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3DC984"/>
                </a:solidFill>
                <a:latin typeface="DejaVu Sans"/>
              </a:rPr>
              <a:t>Outcome on 12 images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E6EDF3"/>
                </a:solidFill>
                <a:latin typeface="DejaVu Sans"/>
              </a:rPr>
              <a:t>clean  1–4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2860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3DC984"/>
                </a:solidFill>
                <a:latin typeface="DejaVu Sans"/>
              </a:rPr>
              <a:t>solved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3464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E6EDF3"/>
                </a:solidFill>
                <a:latin typeface="DejaVu Sans"/>
              </a:rPr>
              <a:t>perspective 1–5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83464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3DC984"/>
                </a:solidFill>
                <a:latin typeface="DejaVu Sans"/>
              </a:rPr>
              <a:t>solved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3832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E6EDF3"/>
                </a:solidFill>
                <a:latin typeface="DejaVu Sans"/>
              </a:rPr>
              <a:t>warped-2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38328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3DC984"/>
                </a:solidFill>
                <a:latin typeface="DejaVu Sans"/>
              </a:rPr>
              <a:t>solved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93192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E6EDF3"/>
                </a:solidFill>
                <a:latin typeface="DejaVu Sans"/>
              </a:rPr>
              <a:t>warped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93192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E08A4B"/>
                </a:solidFill>
                <a:latin typeface="DejaVu Sans"/>
              </a:rPr>
              <a:t>grid-rectification limit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480559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E6EDF3"/>
                </a:solidFill>
                <a:latin typeface="DejaVu Sans"/>
              </a:rPr>
              <a:t>handwritten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4480559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E08A4B"/>
                </a:solidFill>
                <a:latin typeface="DejaVu Sans"/>
              </a:rPr>
              <a:t>out of 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074919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3DC984"/>
                </a:solidFill>
                <a:latin typeface="DejaVu Sans"/>
              </a:rPr>
              <a:t>9 / 12 solved end-to-end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78308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5AA9F0"/>
                </a:solidFill>
                <a:latin typeface="DejaVu Sans"/>
              </a:rPr>
              <a:t>Next steps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286000"/>
            <a:ext cx="521208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3DC984"/>
                </a:solidFill>
                <a:latin typeface="DejaVu Sans"/>
              </a:rPr>
              <a:t>•  </a:t>
            </a:r>
            <a:r>
              <a:rPr sz="1350" b="0">
                <a:solidFill>
                  <a:srgbClr val="E6EDF3"/>
                </a:solidFill>
                <a:latin typeface="DejaVu Sans"/>
              </a:rPr>
              <a:t>warped fails on geometry, not recognition: under heavy skew a digit straddles a cell edge — fix by sampling cells from detected grid-line intersections.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3DC984"/>
                </a:solidFill>
                <a:latin typeface="DejaVu Sans"/>
              </a:rPr>
              <a:t>•  </a:t>
            </a:r>
            <a:r>
              <a:rPr sz="1350" b="0">
                <a:solidFill>
                  <a:srgbClr val="E6EDF3"/>
                </a:solidFill>
                <a:latin typeface="DejaVu Sans"/>
              </a:rPr>
              <a:t>handwritten needs handwriting samples in the library or a different classifier.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3DC984"/>
                </a:solidFill>
                <a:latin typeface="DejaVu Sans"/>
              </a:rPr>
              <a:t>•  </a:t>
            </a:r>
            <a:r>
              <a:rPr sz="1350" b="0">
                <a:solidFill>
                  <a:srgbClr val="E6EDF3"/>
                </a:solidFill>
                <a:latin typeface="DejaVu Sans"/>
              </a:rPr>
              <a:t>Grow templates_knn/ with --harvest on every newly solved image.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